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Vazirmatn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Vazirmatn-bold.fntdata"/><Relationship Id="rId16" Type="http://schemas.openxmlformats.org/officeDocument/2006/relationships/font" Target="fonts/Vazirmat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23900" y="5734050"/>
            <a:ext cx="10744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84115" y="585254"/>
            <a:ext cx="3699070" cy="2468041"/>
          </a:xfrm>
          <a:prstGeom prst="rect">
            <a:avLst/>
          </a:prstGeom>
          <a:solidFill>
            <a:srgbClr val="FAF5ED"/>
          </a:solidFill>
          <a:ln cap="flat" cmpd="sng" w="19050">
            <a:solidFill>
              <a:srgbClr val="B8AD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23900" y="5734050"/>
            <a:ext cx="10744200" cy="1905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9675" y="5919082"/>
            <a:ext cx="1418148" cy="31573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739474" y="582808"/>
            <a:ext cx="3732976" cy="4441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987167" y="2072912"/>
            <a:ext cx="6484865" cy="98606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987167" y="2072912"/>
            <a:ext cx="57150" cy="98606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3017795" y="902782"/>
            <a:ext cx="1111820" cy="399757"/>
          </a:xfrm>
          <a:prstGeom prst="roundRect">
            <a:avLst>
              <a:gd fmla="val 9530" name="adj"/>
            </a:avLst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937" y="645241"/>
            <a:ext cx="119548" cy="156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438" y="917549"/>
            <a:ext cx="177993" cy="196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3403" y="1945623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1768" y="227879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133" y="2611967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582150" y="5972175"/>
            <a:ext cx="1981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9F91"/>
                </a:solidFill>
                <a:latin typeface="Vazirmatn"/>
                <a:ea typeface="Vazirmatn"/>
                <a:cs typeface="Vazirmatn"/>
                <a:sym typeface="Vazirmatn"/>
              </a:rPr>
              <a:t>روایت ۲۰ روز تلاش و توسعه عملیاتی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53025" y="5957182"/>
            <a:ext cx="1246698" cy="23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نسخهٔ بتا - آمادهٔ بررسی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891874" y="620908"/>
            <a:ext cx="3523426" cy="36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پرونده شماره ۲۰ / دستیار هوشمند و ویجت اختصاصی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991100" y="1152525"/>
            <a:ext cx="7200900" cy="72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PRISMO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975825" y="1431586"/>
            <a:ext cx="3225857" cy="34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ویژگی‌های کلیدی پرونده: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274568" y="2265399"/>
            <a:ext cx="6062460" cy="60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پریسمو در حدود ۲۰ روز توسعه، از یک زیرساخت اولیه به پلتفرمی چندبخشی برای انتخاب مدل، کار با دانش اختصاصی، آزمایش پاسخ‌ها و ساخت دستیار قابل‌استفاده در وب رسید.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151145" y="959932"/>
            <a:ext cx="940370" cy="285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EVIDENCE #01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185628" y="1907625"/>
            <a:ext cx="2717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B2622"/>
                </a:solidFill>
                <a:latin typeface="Vazirmatn"/>
                <a:ea typeface="Vazirmatn"/>
                <a:cs typeface="Vazirmatn"/>
                <a:sym typeface="Vazirmatn"/>
              </a:rPr>
              <a:t>مدل دلخواه یا مدل‌های آماده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175094" y="2240800"/>
            <a:ext cx="2717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B2622"/>
                </a:solidFill>
                <a:latin typeface="Vazirmatn"/>
                <a:ea typeface="Vazirmatn"/>
                <a:cs typeface="Vazirmatn"/>
                <a:sym typeface="Vazirmatn"/>
              </a:rPr>
              <a:t>دانش اختصاصی هر کاربر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164562" y="2573973"/>
            <a:ext cx="2717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B2622"/>
                </a:solidFill>
                <a:latin typeface="Vazirmatn"/>
                <a:ea typeface="Vazirmatn"/>
                <a:cs typeface="Vazirmatn"/>
                <a:sym typeface="Vazirmatn"/>
              </a:rPr>
              <a:t>آزمایش، مقایسه و انتشار دستیار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723900" y="5829300"/>
            <a:ext cx="10744200" cy="381000"/>
          </a:xfrm>
          <a:prstGeom prst="rect">
            <a:avLst/>
          </a:prstGeom>
          <a:solidFill>
            <a:srgbClr val="DAD0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8252705" y="3092207"/>
            <a:ext cx="3236788" cy="1759434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484688" y="3105981"/>
            <a:ext cx="3222771" cy="1731887"/>
          </a:xfrm>
          <a:prstGeom prst="rect">
            <a:avLst/>
          </a:prstGeom>
          <a:solidFill>
            <a:srgbClr val="211E1B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712501" y="3111509"/>
            <a:ext cx="3217095" cy="1720831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0540134" y="631653"/>
            <a:ext cx="932005" cy="27974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506456" y="4112228"/>
            <a:ext cx="2726293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4735245" y="4100396"/>
            <a:ext cx="2723653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958981" y="4095660"/>
            <a:ext cx="2722539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0635047" y="3341516"/>
            <a:ext cx="583164" cy="25271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822815" y="3384519"/>
            <a:ext cx="642399" cy="258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2994381" y="3350590"/>
            <a:ext cx="681313" cy="26175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3574" y="38576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8549" y="38576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5275" y="593407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4153" y="3440228"/>
            <a:ext cx="137792" cy="17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0410" y="3387649"/>
            <a:ext cx="136322" cy="173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0652" y="3426051"/>
            <a:ext cx="135730" cy="17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-271462" y="5905500"/>
            <a:ext cx="1273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74D41"/>
                </a:solidFill>
                <a:latin typeface="Vazirmatn"/>
                <a:ea typeface="Vazirmatn"/>
                <a:cs typeface="Vazirmatn"/>
                <a:sym typeface="Vazirmatn"/>
              </a:rPr>
              <a:t>.</a:t>
            </a:r>
            <a:r>
              <a:rPr b="1" i="0" lang="en-US" sz="1050" u="none" cap="none" strike="noStrike">
                <a:solidFill>
                  <a:srgbClr val="574D41"/>
                </a:solidFill>
                <a:latin typeface="Vazirmatn"/>
                <a:ea typeface="Vazirmatn"/>
                <a:cs typeface="Vazirmatn"/>
                <a:sym typeface="Vazirmatn"/>
              </a:rPr>
              <a:t>نتیجه: هر مرحله زمینه و پیشنیاز مرحلهٔ بعدی را فراهم ساخته است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81950" y="1044000"/>
            <a:ext cx="113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از زیرساخت تا تجربهٔ کامل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3371850" y="1638300"/>
            <a:ext cx="809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توسعه مرحله‌به‌مرحله پیش رفت؛ ابتدا پایه‌های اجرا و ذخیره‌سازی شکل گرفت، سپس رابط کاربری و دانشنامه ساخته شد و در ادامه ابزارهای مدل، آزمایش، انتشار و مدیریت به هم متصل شدند.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0692534" y="669753"/>
            <a:ext cx="722455" cy="203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مراحل توسعه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696450" y="666750"/>
            <a:ext cx="8286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[گزارش زمانی]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506450" y="3698300"/>
            <a:ext cx="272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روزهای ۱ تا ۳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490000" y="4169900"/>
            <a:ext cx="2726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پایه‌گذاری پروژه، پایگاه‌داده و اتصال Supabase برای ذخیره‌سازی پایدار.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735250" y="3710125"/>
            <a:ext cx="272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روزهای ۴ تا ۱۰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726925" y="4148200"/>
            <a:ext cx="2738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ساخت رابط کاربری، مدیریت اسناد و پیاده‌سازی جریان بازیابی دانش RAG.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958976" y="3714850"/>
            <a:ext cx="272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روزهای ۱۱ تا ۲۰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965100" y="4152950"/>
            <a:ext cx="2726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مدل‌ها، آزمایشگاه، Battle Mode، ویجت، پنل ادمین و بهینه‌سازی نهایی.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768397" y="3379616"/>
            <a:ext cx="41171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فاز اول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975215" y="3422619"/>
            <a:ext cx="432849" cy="182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فاز دوم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3127731" y="3388690"/>
            <a:ext cx="509863" cy="18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فاز نهایی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/>
          <p:nvPr/>
        </p:nvSpPr>
        <p:spPr>
          <a:xfrm>
            <a:off x="10359215" y="628495"/>
            <a:ext cx="1112869" cy="28605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7998952" y="2998936"/>
            <a:ext cx="3483845" cy="1774527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346852" y="2984030"/>
            <a:ext cx="3498146" cy="1804339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16336" y="3013909"/>
            <a:ext cx="3469279" cy="1744580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439432" y="5866962"/>
            <a:ext cx="3313134" cy="4009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8083" y="3245942"/>
            <a:ext cx="386261" cy="311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009" y="3304046"/>
            <a:ext cx="274587" cy="311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9869" y="3258866"/>
            <a:ext cx="307448" cy="307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10511615" y="666595"/>
            <a:ext cx="903319" cy="209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معماری و استقرار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723900" y="971550"/>
            <a:ext cx="1074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یک پروژه، سه حالت اجرا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371850" y="1609725"/>
            <a:ext cx="81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بسته به نیاز می‌توان Prismo را روی سیستم شخصی، به‌صورت محلی همراه با Supabase یا به‌عنوان نسخهٔ آنلاین روی Vercel اجرا کرد.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4158650" y="5971774"/>
            <a:ext cx="387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انتخاب انعطاف‌پذیر بر اساس مرحلهٔ توسعه و نیاز استقرار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248675" y="3669750"/>
            <a:ext cx="297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Local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255825" y="4079250"/>
            <a:ext cx="29757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اجرای کامل روی سیستم و استفاده از SQLite برای شروع ساده و توسعه محلی.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603600" y="3656775"/>
            <a:ext cx="297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Local + Supabase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4591125" y="4066225"/>
            <a:ext cx="29757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اجرای محلی با پایگاه‌دادهٔ ابری و نگهداری پایدارتر اطلاعات کاربران.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960275" y="3682700"/>
            <a:ext cx="293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Vercel + Supabase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963850" y="4092275"/>
            <a:ext cx="2938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دسترسی آنلاین از طریق وب با تکیه بر سرویس پایگاه‌دادهٔ ابری.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229439" y="3249843"/>
            <a:ext cx="848040" cy="388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MODE 01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4610385" y="3215924"/>
            <a:ext cx="836989" cy="35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Vazirmatn"/>
                <a:ea typeface="Vazirmatn"/>
                <a:cs typeface="Vazirmatn"/>
                <a:sym typeface="Vazirmatn"/>
              </a:rPr>
              <a:t>MODE 02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944490" y="3242960"/>
            <a:ext cx="845944" cy="38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MODE 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723900" y="5905500"/>
            <a:ext cx="10744200" cy="304800"/>
          </a:xfrm>
          <a:prstGeom prst="rect">
            <a:avLst/>
          </a:prstGeom>
          <a:solidFill>
            <a:srgbClr val="DAD0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10454436" y="630157"/>
            <a:ext cx="1017677" cy="28273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213291" y="2888129"/>
            <a:ext cx="5270866" cy="1977091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07841" y="2888129"/>
            <a:ext cx="5270866" cy="1977091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494295" y="3169133"/>
            <a:ext cx="4693565" cy="53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349090" y="4080458"/>
            <a:ext cx="1864097" cy="533178"/>
          </a:xfrm>
          <a:prstGeom prst="roundRect">
            <a:avLst>
              <a:gd fmla="val 7145" name="adj"/>
            </a:avLst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004138" y="3169133"/>
            <a:ext cx="4693565" cy="53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048309" y="4171154"/>
            <a:ext cx="1639225" cy="455018"/>
          </a:xfrm>
          <a:prstGeom prst="roundRect">
            <a:avLst>
              <a:gd fmla="val 8373" name="adj"/>
            </a:avLst>
          </a:prstGeom>
          <a:noFill/>
          <a:ln cap="flat" cmpd="sng" w="2857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494295" y="3689000"/>
            <a:ext cx="4693565" cy="1905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1004138" y="3689000"/>
            <a:ext cx="4693565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7389" y="3216750"/>
            <a:ext cx="337978" cy="272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4129" y="3294382"/>
            <a:ext cx="242743" cy="2708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-280987" y="5962650"/>
            <a:ext cx="12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74D41"/>
                </a:solidFill>
                <a:latin typeface="Vazirmatn"/>
                <a:ea typeface="Vazirmatn"/>
                <a:cs typeface="Vazirmatn"/>
                <a:sym typeface="Vazirmatn"/>
              </a:rPr>
              <a:t>* یادداشت: دسترسی به مدل‌های آماده ممکن است بین حالت‌های محلی و آنلاین متفاوت باشد.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10606836" y="668257"/>
            <a:ext cx="808127" cy="20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مدیریت مدل‌ها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23900" y="971550"/>
            <a:ext cx="10744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انتخاب مدل، متناسب با نیاز شما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3371850" y="1609725"/>
            <a:ext cx="809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کاربر مجبور نیست فقط از یک مدل مشخص استفاده کند. مدل چت و مدل Embedding انتخاب‌های جداگانه‌ای هستند.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504927" y="3778650"/>
            <a:ext cx="469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انتخاب منبع و مدل دلخواه برای تولید پاسخ‌های دقیق و روان.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9482450" y="4246128"/>
            <a:ext cx="169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تنظیم آسان API و کلید اختصاصی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997498" y="3778650"/>
            <a:ext cx="469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انتخاب مستقل مدل برای تبدیل متن به بردار و بازیابی معنایی.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181650" y="4298199"/>
            <a:ext cx="1467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Vazirmatn"/>
                <a:ea typeface="Vazirmatn"/>
                <a:cs typeface="Vazirmatn"/>
                <a:sym typeface="Vazirmatn"/>
              </a:rPr>
              <a:t>بررسی خودکار وضعیت اتصال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551354" y="3176945"/>
            <a:ext cx="1346611" cy="382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Chat Model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3462877" y="3212021"/>
            <a:ext cx="2076591" cy="394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Embedding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/>
          <p:nvPr/>
        </p:nvSpPr>
        <p:spPr>
          <a:xfrm>
            <a:off x="10549657" y="631819"/>
            <a:ext cx="922485" cy="27941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9022376" y="3250666"/>
            <a:ext cx="2455429" cy="1175816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2982" y="3250666"/>
            <a:ext cx="2455429" cy="1175816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478875" y="3240147"/>
            <a:ext cx="2464855" cy="1196854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716105" y="3254886"/>
            <a:ext cx="2451607" cy="1167376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129457" y="5659427"/>
            <a:ext cx="3933084" cy="720745"/>
          </a:xfrm>
          <a:prstGeom prst="roundRect">
            <a:avLst>
              <a:gd fmla="val 5286" name="adj"/>
            </a:avLst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13006" y="375285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3612" y="375285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4218" y="375285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3028" y="3432078"/>
            <a:ext cx="204649" cy="27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9777" y="3431496"/>
            <a:ext cx="271314" cy="271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684" y="3430784"/>
            <a:ext cx="245024" cy="27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77166" y="3431474"/>
            <a:ext cx="337066" cy="271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10702057" y="669919"/>
            <a:ext cx="712935" cy="203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معماری RAG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23900" y="971550"/>
            <a:ext cx="1075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دانش شما، بخشی از دستیار شماست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3371850" y="1609725"/>
            <a:ext cx="81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اطلاعات به قطعه‌های کوچک‌تر تبدیل و بردارسازی می‌شوند تا هنگام پرسش، بخش‌های مرتبط به تولید پاسخ کمک کنند.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3771175" y="5924075"/>
            <a:ext cx="4649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ملاحظه: دانش هر کاربر کاملاً از دیگران ایزوله و امن نگهداری می‌شود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862461" y="3758240"/>
            <a:ext cx="277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۱. ورودی فایل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8933510" y="4034423"/>
            <a:ext cx="264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PDF، Word یا متن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091072" y="3758240"/>
            <a:ext cx="277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۲. قطعه‌بندی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153311" y="4034423"/>
            <a:ext cx="264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پردازش و تفکیک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3323072" y="3749038"/>
            <a:ext cx="27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۳. بردارسازی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3396636" y="4025168"/>
            <a:ext cx="2645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ذخیره و بازیابی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552953" y="3761923"/>
            <a:ext cx="277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۴. پاسخ‌گویی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615948" y="4038121"/>
            <a:ext cx="2643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تولید مستند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/>
          <p:nvPr/>
        </p:nvSpPr>
        <p:spPr>
          <a:xfrm>
            <a:off x="10625833" y="633149"/>
            <a:ext cx="846332" cy="27675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194658" y="2921296"/>
            <a:ext cx="5289082" cy="1929806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705227" y="2912183"/>
            <a:ext cx="5295145" cy="1948032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496548" y="5868956"/>
            <a:ext cx="3198903" cy="3969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436903" y="3589835"/>
            <a:ext cx="4787138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969231" y="3598201"/>
            <a:ext cx="4788081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3849" y="367781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9667" y="40111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484" y="434446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0705" y="37666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723" y="409992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6742" y="443322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10778233" y="671249"/>
            <a:ext cx="636782" cy="2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محیط تست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723900" y="971550"/>
            <a:ext cx="1074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پیش از انتشار، مدل خود را آزمایش کنید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3371850" y="1609725"/>
            <a:ext cx="81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فضایی برای بررسی رفتار مدل، تنظیم دستورالعمل اصلی و میزان خلاقیت پیش از استفاده در محیط واقعی.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4230025" y="5977872"/>
            <a:ext cx="373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هدف: آزمایش و خطا پیش از انتشار نهایی در وب‌سایت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6436900" y="3163550"/>
            <a:ext cx="478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تنظیمات پیشرفته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969225" y="3155250"/>
            <a:ext cx="478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گفت‌وگوی آزمایشی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597347" y="3656956"/>
            <a:ext cx="4401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تنظیم دقیق System Prompt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602844" y="3990276"/>
            <a:ext cx="440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کنترل میزان خلاقیت (Temperature)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608343" y="4323595"/>
            <a:ext cx="440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پارامترهای بازیابی دانش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882261" y="3717544"/>
            <a:ext cx="4658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مشاهدهٔ تدریجی پاسخ Stream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875280" y="4050846"/>
            <a:ext cx="4658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سنجش کیفیت منابع بازیابی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868298" y="4384148"/>
            <a:ext cx="4658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نزدیک‌تر کردن پاسخ به هدف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/>
          <p:nvPr/>
        </p:nvSpPr>
        <p:spPr>
          <a:xfrm>
            <a:off x="10511568" y="631154"/>
            <a:ext cx="960562" cy="2807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6471819" y="3045039"/>
            <a:ext cx="5015749" cy="1682320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704431" y="3045039"/>
            <a:ext cx="5015748" cy="1682320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396596" y="5865466"/>
            <a:ext cx="3398806" cy="40391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0431696" y="3256759"/>
            <a:ext cx="804304" cy="418570"/>
          </a:xfrm>
          <a:prstGeom prst="roundRect">
            <a:avLst>
              <a:gd fmla="val 9102" name="adj"/>
            </a:avLst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4690691" y="3356502"/>
            <a:ext cx="790500" cy="379800"/>
          </a:xfrm>
          <a:prstGeom prst="roundRect">
            <a:avLst>
              <a:gd fmla="val 10030" name="adj"/>
            </a:avLst>
          </a:prstGeom>
          <a:noFill/>
          <a:ln cap="flat" cmpd="sng" w="2857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10663968" y="669254"/>
            <a:ext cx="751012" cy="204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ارزیابی تطبیقی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23900" y="971550"/>
            <a:ext cx="1074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دو مدل؛ یک پرسش؛ مقایسهٔ روشن‌تر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3371850" y="1609725"/>
            <a:ext cx="81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در Battle Mode می‌توان مدل‌های در دسترس را در برابر یک پرسش یکسان قرار داد و پاسخ‌هایشان را کنار هم دید.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5929312" y="3676650"/>
            <a:ext cx="428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VS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105100" y="5957425"/>
            <a:ext cx="398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مقایسه برای انتخاب مناسب‌ترین مدل بر اساس نیاز واقعی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10565050" y="3405011"/>
            <a:ext cx="633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MODEL A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6728801" y="3774925"/>
            <a:ext cx="450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پاسخ مدل اول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6738775" y="4155800"/>
            <a:ext cx="450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سنجش زمان پاسخ‌گویی و سبک نگارش.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4824050" y="3483261"/>
            <a:ext cx="618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Vazirmatn"/>
                <a:ea typeface="Vazirmatn"/>
                <a:cs typeface="Vazirmatn"/>
                <a:sym typeface="Vazirmatn"/>
              </a:rPr>
              <a:t>MODEL B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956199" y="3774925"/>
            <a:ext cx="452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پاسخ مدل دوم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948700" y="4155800"/>
            <a:ext cx="452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مقایسه میزان جزئیات و دقت اطلاعات.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/>
          <p:nvPr/>
        </p:nvSpPr>
        <p:spPr>
          <a:xfrm>
            <a:off x="10540134" y="631653"/>
            <a:ext cx="932005" cy="27974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8001778" y="3160836"/>
            <a:ext cx="3478194" cy="1450726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354517" y="3154855"/>
            <a:ext cx="3482815" cy="1462689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714211" y="3166827"/>
            <a:ext cx="3473529" cy="1438745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744047" y="5877599"/>
            <a:ext cx="2703905" cy="3796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8" name="Google Shape;2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444" y="3403081"/>
            <a:ext cx="337979" cy="272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2046" y="3454700"/>
            <a:ext cx="272226" cy="272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8776" y="3408253"/>
            <a:ext cx="308493" cy="27092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10692534" y="669753"/>
            <a:ext cx="722455" cy="203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استقرار نهایی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723900" y="971550"/>
            <a:ext cx="1074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از تنظیمات تا یک ویجت قابل‌استفاده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3371850" y="1609725"/>
            <a:ext cx="81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پس از تنظیم و آزمایش، می‌توان کد ویجت را کپی و در وب‌سایت قرار داد. ظاهر ویجت کاملاً قابل‌شخصی‌سازی است.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4539400" y="5965456"/>
            <a:ext cx="311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هماهنگی کامل با هویت بصری وب‌سایت شما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8250675" y="3784025"/>
            <a:ext cx="297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کد Embed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8256325" y="4107825"/>
            <a:ext cx="29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کپی آسان کد و قراردادن آن در هر وب‌سایت.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4603151" y="3778825"/>
            <a:ext cx="304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شخصی‌سازی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4597575" y="4102600"/>
            <a:ext cx="304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رنگ، عنوان، پیام خوشامد و موقعیت ویجت.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960951" y="3789225"/>
            <a:ext cx="297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حیوان پیکسلی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965475" y="4113025"/>
            <a:ext cx="29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افزودن سگ، گربه یا راکون برای صمیمیت بیشتر.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DFD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1"/>
          <p:cNvSpPr/>
          <p:nvPr/>
        </p:nvSpPr>
        <p:spPr>
          <a:xfrm>
            <a:off x="723900" y="5905500"/>
            <a:ext cx="10744200" cy="304800"/>
          </a:xfrm>
          <a:prstGeom prst="rect">
            <a:avLst/>
          </a:prstGeom>
          <a:solidFill>
            <a:srgbClr val="DAD0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0521090" y="631320"/>
            <a:ext cx="951044" cy="2804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216616" y="3078600"/>
            <a:ext cx="5264217" cy="1596149"/>
          </a:xfrm>
          <a:prstGeom prst="rect">
            <a:avLst/>
          </a:prstGeom>
          <a:solidFill>
            <a:srgbClr val="FDFBF7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08715" y="3069508"/>
            <a:ext cx="5269117" cy="1614331"/>
          </a:xfrm>
          <a:prstGeom prst="rect">
            <a:avLst/>
          </a:prstGeom>
          <a:solidFill>
            <a:srgbClr val="1E1B18"/>
          </a:solidFill>
          <a:ln cap="flat" cmpd="sng" w="9525">
            <a:solidFill>
              <a:srgbClr val="D1C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458860" y="3746806"/>
            <a:ext cx="4768092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965738" y="3755127"/>
            <a:ext cx="4769035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665" y="383511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54483" y="4168440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8167" y="392355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0230" y="425725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1"/>
          <p:cNvSpPr txBox="1"/>
          <p:nvPr/>
        </p:nvSpPr>
        <p:spPr>
          <a:xfrm>
            <a:off x="-280987" y="5962650"/>
            <a:ext cx="12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74D41"/>
                </a:solidFill>
                <a:latin typeface="Vazirmatn"/>
                <a:ea typeface="Vazirmatn"/>
                <a:cs typeface="Vazirmatn"/>
                <a:sym typeface="Vazirmatn"/>
              </a:rPr>
              <a:t>* نظارت هوشمند بدون ادعای تشخیص مطلق رفتارهای خطرناک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10673490" y="669420"/>
            <a:ext cx="741494" cy="20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Vazirmatn"/>
                <a:ea typeface="Vazirmatn"/>
                <a:cs typeface="Vazirmatn"/>
                <a:sym typeface="Vazirmatn"/>
              </a:rPr>
              <a:t>نظارت و کنترل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723900" y="971550"/>
            <a:ext cx="10744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ابزارهای مدیریتی در یک پنل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3371850" y="1609725"/>
            <a:ext cx="809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238"/>
                </a:solidFill>
                <a:latin typeface="Vazirmatn"/>
                <a:ea typeface="Vazirmatn"/>
                <a:cs typeface="Vazirmatn"/>
                <a:sym typeface="Vazirmatn"/>
              </a:rPr>
              <a:t>پنل مدیریت برای نظارت عملیاتی و رسیدگی به کاربران طراحی شده است تا دسترسی‌ها و مکالمات کنترل شوند.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6458851" y="3320850"/>
            <a:ext cx="476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کنترل کاربران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965749" y="3312575"/>
            <a:ext cx="476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امنیت و هشدار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6381711" y="3814253"/>
            <a:ext cx="4601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مدیریت حساب‌ها و دسترسی‌ها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6387530" y="4147577"/>
            <a:ext cx="4601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312B"/>
                </a:solidFill>
                <a:latin typeface="Vazirmatn"/>
                <a:ea typeface="Vazirmatn"/>
                <a:cs typeface="Vazirmatn"/>
                <a:sym typeface="Vazirmatn"/>
              </a:rPr>
              <a:t>بررسی مکالمات و گزارش‌ها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878769" y="3874870"/>
            <a:ext cx="4639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هشدارهای الگوهای مشکوک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852741" y="4208172"/>
            <a:ext cx="4658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5CBBE"/>
                </a:solidFill>
                <a:latin typeface="Vazirmatn"/>
                <a:ea typeface="Vazirmatn"/>
                <a:cs typeface="Vazirmatn"/>
                <a:sym typeface="Vazirmatn"/>
              </a:rPr>
              <a:t>ابزار کمکی برای بازبینی مدیر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18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723900" y="5734050"/>
            <a:ext cx="10744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5339274" y="1476194"/>
            <a:ext cx="1513451" cy="509054"/>
          </a:xfrm>
          <a:prstGeom prst="roundRect">
            <a:avLst>
              <a:gd fmla="val 7484" name="adj"/>
            </a:avLst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4178050" y="3836721"/>
            <a:ext cx="3835899" cy="1038062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723900" y="5734050"/>
            <a:ext cx="10744200" cy="1905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719614" y="5922572"/>
            <a:ext cx="1218245" cy="30875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5283450" y="1633525"/>
            <a:ext cx="1625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CASE FILE CLOSED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2314277" y="2073622"/>
            <a:ext cx="756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4EFE6"/>
                </a:solidFill>
                <a:latin typeface="Vazirmatn"/>
                <a:ea typeface="Vazirmatn"/>
                <a:cs typeface="Vazirmatn"/>
                <a:sym typeface="Vazirmatn"/>
              </a:rPr>
              <a:t>Prismo؛ از دانش تا دستیار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631156" y="3054697"/>
            <a:ext cx="892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89F91"/>
                </a:solidFill>
                <a:latin typeface="Vazirmatn"/>
                <a:ea typeface="Vazirmatn"/>
                <a:cs typeface="Vazirmatn"/>
                <a:sym typeface="Vazirmatn"/>
              </a:rPr>
              <a:t>پریسمو بخش‌های مختلف ساخت یک دستیار هوش مصنوعی را به هم وصل می‌کند: مدل، دانش، آزمایش و ویجت در یک مسیر.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4079600" y="4332056"/>
            <a:ext cx="403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614"/>
                </a:solidFill>
                <a:latin typeface="Vazirmatn"/>
                <a:ea typeface="Vazirmatn"/>
                <a:cs typeface="Vazirmatn"/>
                <a:sym typeface="Vazirmatn"/>
              </a:rPr>
              <a:t>https://rag-widget-beta.vercel.app/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10248900" y="5972175"/>
            <a:ext cx="1314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9F91"/>
                </a:solidFill>
                <a:latin typeface="Vazirmatn"/>
                <a:ea typeface="Vazirmatn"/>
                <a:cs typeface="Vazirmatn"/>
                <a:sym typeface="Vazirmatn"/>
              </a:rPr>
              <a:t>Prismo Presentation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52975" y="5985325"/>
            <a:ext cx="1046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سپاس از توجه شما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4194948" y="3996606"/>
            <a:ext cx="380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Vazirmatn"/>
                <a:ea typeface="Vazirmatn"/>
                <a:cs typeface="Vazirmatn"/>
                <a:sym typeface="Vazirmatn"/>
              </a:rPr>
              <a:t>آدرس لایو پروژه: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